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92" r:id="rId5"/>
    <p:sldId id="261" r:id="rId6"/>
    <p:sldId id="293" r:id="rId7"/>
    <p:sldId id="294" r:id="rId8"/>
    <p:sldId id="296" r:id="rId9"/>
    <p:sldId id="299" r:id="rId10"/>
    <p:sldId id="29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839" autoAdjust="0"/>
  </p:normalViewPr>
  <p:slideViewPr>
    <p:cSldViewPr snapToGrid="0" showGuides="1">
      <p:cViewPr varScale="1">
        <p:scale>
          <a:sx n="87" d="100"/>
          <a:sy n="87" d="100"/>
        </p:scale>
        <p:origin x="365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301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anchor="b" anchorCtr="0"/>
          <a:lstStyle/>
          <a:p>
            <a:r>
              <a:rPr lang="en-US" b="1" dirty="0"/>
              <a:t>Import </a:t>
            </a:r>
            <a:br>
              <a:rPr lang="en-US" b="1" dirty="0"/>
            </a:br>
            <a:r>
              <a:rPr lang="en-US" dirty="0"/>
              <a:t>P</a:t>
            </a:r>
            <a:r>
              <a:rPr lang="en-US" b="1" dirty="0"/>
              <a:t>roduct Tax System</a:t>
            </a:r>
            <a:br>
              <a:rPr lang="en-US" b="1" dirty="0"/>
            </a:b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3"/>
            <a:ext cx="4912598" cy="1525331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Problem Definition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Import tax management system  is often handled manually, leading to frequent errors, delays, and compliance issues. Businesses struggle to accurately calculate duties, apply exemptions, and meet tax deadlines.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5116" r="25116"/>
          <a:stretch/>
        </p:blipFill>
        <p:spPr>
          <a:xfrm>
            <a:off x="6742556" y="731520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5701" y="2487168"/>
            <a:ext cx="7465671" cy="3730752"/>
          </a:xfrm>
          <a:noFill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ustoms agencies, Import/export businesses, and Tax authorities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Customs Officers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Business Owner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Tax Authorities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Automate tax calculations for imported and exported goods.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Ensure compliance with country-specific trade regulations.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Generate reports for tax audits and customs clearance.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E86733-E7E8-1F17-949C-77BB0B88E25B}"/>
              </a:ext>
            </a:extLst>
          </p:cNvPr>
          <p:cNvSpPr txBox="1">
            <a:spLocks/>
          </p:cNvSpPr>
          <p:nvPr/>
        </p:nvSpPr>
        <p:spPr>
          <a:xfrm>
            <a:off x="945997" y="2908643"/>
            <a:ext cx="3795823" cy="511213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Context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2C6A49-C2A7-DE73-B42C-F515667F12D6}"/>
              </a:ext>
            </a:extLst>
          </p:cNvPr>
          <p:cNvSpPr txBox="1">
            <a:spLocks/>
          </p:cNvSpPr>
          <p:nvPr/>
        </p:nvSpPr>
        <p:spPr>
          <a:xfrm>
            <a:off x="945997" y="3812345"/>
            <a:ext cx="3795823" cy="540199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Target Users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AB269A-0A86-DB3D-72D7-1F77A9FA3F4E}"/>
              </a:ext>
            </a:extLst>
          </p:cNvPr>
          <p:cNvSpPr txBox="1">
            <a:spLocks/>
          </p:cNvSpPr>
          <p:nvPr/>
        </p:nvSpPr>
        <p:spPr>
          <a:xfrm>
            <a:off x="945996" y="5029625"/>
            <a:ext cx="3795823" cy="511213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Project Goals 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6F5CB-933A-4B64-AD72-C4FBFD3A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15" y="1069145"/>
            <a:ext cx="8466641" cy="1765495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  <a:t>IMPORT PRODUCT TAX MANAGEMENT SYSTEM:</a:t>
            </a:r>
            <a:b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700" b="0" dirty="0">
                <a:latin typeface="Helvetica" panose="020B0604020202020204" pitchFamily="34" charset="0"/>
                <a:cs typeface="Helvetica" panose="020B0604020202020204" pitchFamily="34" charset="0"/>
              </a:rPr>
              <a:t>Help us to manage and track taxes on imported products, ensuring compliance, transparency, and accurate reporting.</a:t>
            </a:r>
            <a:b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BFFE3-FAA3-400F-9BDE-B37056924C26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3</a:t>
            </a:fld>
            <a:endParaRPr lang="en-US" altLang="zh-CN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DE8AFC-40CB-419A-BF70-B0862C1D75E9}"/>
              </a:ext>
            </a:extLst>
          </p:cNvPr>
          <p:cNvSpPr txBox="1">
            <a:spLocks/>
          </p:cNvSpPr>
          <p:nvPr/>
        </p:nvSpPr>
        <p:spPr>
          <a:xfrm>
            <a:off x="2064489" y="3165231"/>
            <a:ext cx="3795823" cy="533868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7BF519-CCEE-4BD4-890F-0B6864E4D327}"/>
              </a:ext>
            </a:extLst>
          </p:cNvPr>
          <p:cNvSpPr txBox="1">
            <a:spLocks/>
          </p:cNvSpPr>
          <p:nvPr/>
        </p:nvSpPr>
        <p:spPr>
          <a:xfrm>
            <a:off x="4330455" y="3158901"/>
            <a:ext cx="8466641" cy="34107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Automate the tax calculation process.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Track importer records and transaction history.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Support timely tax payments and clearance authorization.</a:t>
            </a: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Importers/International sellers.        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Customer Officers                       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Tax System Database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Payment Gateway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Audit Department</a:t>
            </a: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B72E7E-1F45-4D0B-AD59-049EC7A99DA9}"/>
              </a:ext>
            </a:extLst>
          </p:cNvPr>
          <p:cNvSpPr txBox="1">
            <a:spLocks/>
          </p:cNvSpPr>
          <p:nvPr/>
        </p:nvSpPr>
        <p:spPr>
          <a:xfrm>
            <a:off x="2132481" y="4499319"/>
            <a:ext cx="3795823" cy="533868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Entities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6901530-EC4A-445A-A181-F4221D794D35}"/>
              </a:ext>
            </a:extLst>
          </p:cNvPr>
          <p:cNvSpPr/>
          <p:nvPr/>
        </p:nvSpPr>
        <p:spPr>
          <a:xfrm>
            <a:off x="10127511" y="5486400"/>
            <a:ext cx="943763" cy="3024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3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1641-DFFB-42F4-87D4-7D0B75D7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126608"/>
            <a:ext cx="12192000" cy="6984608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31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6F5CB-933A-4B64-AD72-C4FBFD3A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15" y="647114"/>
            <a:ext cx="8466641" cy="553330"/>
          </a:xfrm>
        </p:spPr>
        <p:txBody>
          <a:bodyPr>
            <a:normAutofit fontScale="90000"/>
          </a:bodyPr>
          <a:lstStyle/>
          <a:p>
            <a: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  <a:t>Entities</a:t>
            </a:r>
            <a:b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BFFE3-FAA3-400F-9BDE-B37056924C26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DE8AFC-40CB-419A-BF70-B0862C1D75E9}"/>
              </a:ext>
            </a:extLst>
          </p:cNvPr>
          <p:cNvSpPr txBox="1">
            <a:spLocks/>
          </p:cNvSpPr>
          <p:nvPr/>
        </p:nvSpPr>
        <p:spPr>
          <a:xfrm>
            <a:off x="1389237" y="1195754"/>
            <a:ext cx="3795823" cy="59787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Importer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7BF519-CCEE-4BD4-890F-0B6864E4D327}"/>
              </a:ext>
            </a:extLst>
          </p:cNvPr>
          <p:cNvSpPr txBox="1">
            <a:spLocks/>
          </p:cNvSpPr>
          <p:nvPr/>
        </p:nvSpPr>
        <p:spPr>
          <a:xfrm>
            <a:off x="6473483" y="1069145"/>
            <a:ext cx="5528603" cy="51487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B72E7E-1F45-4D0B-AD59-049EC7A99DA9}"/>
              </a:ext>
            </a:extLst>
          </p:cNvPr>
          <p:cNvSpPr txBox="1">
            <a:spLocks/>
          </p:cNvSpPr>
          <p:nvPr/>
        </p:nvSpPr>
        <p:spPr>
          <a:xfrm>
            <a:off x="1336427" y="4051492"/>
            <a:ext cx="3846286" cy="559661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Tax Rate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40642B-A3D0-4FBA-B288-E473DCEAD79E}"/>
              </a:ext>
            </a:extLst>
          </p:cNvPr>
          <p:cNvSpPr txBox="1">
            <a:spLocks/>
          </p:cNvSpPr>
          <p:nvPr/>
        </p:nvSpPr>
        <p:spPr>
          <a:xfrm>
            <a:off x="2907048" y="1280851"/>
            <a:ext cx="2246687" cy="6815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Importer Id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Name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Contact Info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Country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F513F5-F94C-4C52-8951-224CBA226602}"/>
              </a:ext>
            </a:extLst>
          </p:cNvPr>
          <p:cNvSpPr txBox="1">
            <a:spLocks/>
          </p:cNvSpPr>
          <p:nvPr/>
        </p:nvSpPr>
        <p:spPr>
          <a:xfrm>
            <a:off x="1375171" y="2590794"/>
            <a:ext cx="3751275" cy="593186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Product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C8AD1D5-423E-4053-A7EB-F2D4D0676131}"/>
              </a:ext>
            </a:extLst>
          </p:cNvPr>
          <p:cNvSpPr txBox="1">
            <a:spLocks/>
          </p:cNvSpPr>
          <p:nvPr/>
        </p:nvSpPr>
        <p:spPr>
          <a:xfrm>
            <a:off x="2918768" y="2572736"/>
            <a:ext cx="2340470" cy="6815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Product id (PK)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Name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Category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Value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Quantity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6AE3DE8-29BC-4FC6-94DE-9AFA20A10587}"/>
              </a:ext>
            </a:extLst>
          </p:cNvPr>
          <p:cNvSpPr txBox="1">
            <a:spLocks/>
          </p:cNvSpPr>
          <p:nvPr/>
        </p:nvSpPr>
        <p:spPr>
          <a:xfrm>
            <a:off x="2944558" y="3991235"/>
            <a:ext cx="2457436" cy="6511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Tax Id (PK)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Category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Rate Percentage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E3903FE-5E93-425D-966D-4382A3D60230}"/>
              </a:ext>
            </a:extLst>
          </p:cNvPr>
          <p:cNvSpPr txBox="1">
            <a:spLocks/>
          </p:cNvSpPr>
          <p:nvPr/>
        </p:nvSpPr>
        <p:spPr>
          <a:xfrm>
            <a:off x="2982350" y="5114307"/>
            <a:ext cx="2568472" cy="6815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Transaction id (PK)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Importer id (FK)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Product id (FK)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Tax id (FK)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Transaction Date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Status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095CE42-A789-4C50-8433-AF5A20B7D608}"/>
              </a:ext>
            </a:extLst>
          </p:cNvPr>
          <p:cNvSpPr txBox="1">
            <a:spLocks/>
          </p:cNvSpPr>
          <p:nvPr/>
        </p:nvSpPr>
        <p:spPr>
          <a:xfrm>
            <a:off x="1376286" y="5104223"/>
            <a:ext cx="3846286" cy="559661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Import Transaction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7CE348D-AEC1-48A7-87CF-4E9918616C42}"/>
              </a:ext>
            </a:extLst>
          </p:cNvPr>
          <p:cNvSpPr txBox="1">
            <a:spLocks/>
          </p:cNvSpPr>
          <p:nvPr/>
        </p:nvSpPr>
        <p:spPr>
          <a:xfrm>
            <a:off x="5859194" y="1195754"/>
            <a:ext cx="3795823" cy="59787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Invoices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36FD80-7E18-41A0-BAB1-03A09C6B8BA9}"/>
              </a:ext>
            </a:extLst>
          </p:cNvPr>
          <p:cNvSpPr txBox="1">
            <a:spLocks/>
          </p:cNvSpPr>
          <p:nvPr/>
        </p:nvSpPr>
        <p:spPr>
          <a:xfrm>
            <a:off x="5786510" y="2572045"/>
            <a:ext cx="3795823" cy="59787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Payments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7382828-CC58-4FB7-83B0-5BFCF3DCF8F9}"/>
              </a:ext>
            </a:extLst>
          </p:cNvPr>
          <p:cNvSpPr txBox="1">
            <a:spLocks/>
          </p:cNvSpPr>
          <p:nvPr/>
        </p:nvSpPr>
        <p:spPr>
          <a:xfrm>
            <a:off x="5842782" y="4119496"/>
            <a:ext cx="3795823" cy="59787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Audit Log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C4E0712-9F45-4DF7-99D5-C9D4FE4F83C3}"/>
              </a:ext>
            </a:extLst>
          </p:cNvPr>
          <p:cNvSpPr txBox="1">
            <a:spLocks/>
          </p:cNvSpPr>
          <p:nvPr/>
        </p:nvSpPr>
        <p:spPr>
          <a:xfrm>
            <a:off x="5840435" y="5622392"/>
            <a:ext cx="3795823" cy="59787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latin typeface="Helvetica" panose="020B0604020202020204" pitchFamily="34" charset="0"/>
                <a:cs typeface="Helvetica" panose="020B0604020202020204" pitchFamily="34" charset="0"/>
              </a:rPr>
              <a:t>Holday</a:t>
            </a: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48641E4-A7DD-49D8-95B4-041538A37365}"/>
              </a:ext>
            </a:extLst>
          </p:cNvPr>
          <p:cNvSpPr txBox="1">
            <a:spLocks/>
          </p:cNvSpPr>
          <p:nvPr/>
        </p:nvSpPr>
        <p:spPr>
          <a:xfrm>
            <a:off x="7645517" y="1180032"/>
            <a:ext cx="3080989" cy="6815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Invoice id (PK)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Transaction id  (FK)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Payment Date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Payment Method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Status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A8538E9-06AA-4966-BF48-D108AC82B4CE}"/>
              </a:ext>
            </a:extLst>
          </p:cNvPr>
          <p:cNvSpPr txBox="1">
            <a:spLocks/>
          </p:cNvSpPr>
          <p:nvPr/>
        </p:nvSpPr>
        <p:spPr>
          <a:xfrm>
            <a:off x="7687716" y="2629004"/>
            <a:ext cx="2817278" cy="6815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Payment id (PK)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Invoice id (FK)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Payment Date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Payment Method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Status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CFD8985-29A7-4569-B453-C3832B71439C}"/>
              </a:ext>
            </a:extLst>
          </p:cNvPr>
          <p:cNvSpPr txBox="1">
            <a:spLocks/>
          </p:cNvSpPr>
          <p:nvPr/>
        </p:nvSpPr>
        <p:spPr>
          <a:xfrm>
            <a:off x="7729922" y="4162383"/>
            <a:ext cx="2246687" cy="64877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Log id (PK)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User ID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Action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Timestamp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Table Affected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8371316-4FFD-40A5-9609-A0B64A54F590}"/>
              </a:ext>
            </a:extLst>
          </p:cNvPr>
          <p:cNvSpPr txBox="1">
            <a:spLocks/>
          </p:cNvSpPr>
          <p:nvPr/>
        </p:nvSpPr>
        <p:spPr>
          <a:xfrm>
            <a:off x="7758058" y="5667629"/>
            <a:ext cx="2800861" cy="6815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Holiday Id (Pk)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Date </a:t>
            </a:r>
          </a:p>
          <a:p>
            <a:pPr lvl="2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Description</a:t>
            </a:r>
          </a:p>
          <a:p>
            <a:pPr lvl="2"/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49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1641-DFFB-42F4-87D4-7D0B75D7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126608"/>
            <a:ext cx="12192000" cy="6984608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318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8EE8-C56E-4277-9421-7AAD09909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63" y="1069145"/>
            <a:ext cx="6077243" cy="5148775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AA8F6-4058-42ED-BB44-7D02D875D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8087" y="1097281"/>
            <a:ext cx="5219114" cy="4829439"/>
          </a:xfrm>
        </p:spPr>
        <p:txBody>
          <a:bodyPr/>
          <a:lstStyle/>
          <a:p>
            <a:r>
              <a:rPr lang="en-US" dirty="0"/>
              <a:t>One importer can make many import transaction </a:t>
            </a:r>
          </a:p>
          <a:p>
            <a:r>
              <a:rPr lang="en-US" dirty="0"/>
              <a:t>Each Product is linked to a Tax Rate based on category </a:t>
            </a:r>
          </a:p>
          <a:p>
            <a:r>
              <a:rPr lang="en-US" dirty="0"/>
              <a:t>Each Import Transaction generates one invoice </a:t>
            </a:r>
          </a:p>
          <a:p>
            <a:r>
              <a:rPr lang="en-US" dirty="0"/>
              <a:t>Each invoice is linked to many payment </a:t>
            </a:r>
          </a:p>
          <a:p>
            <a:r>
              <a:rPr lang="en-US" dirty="0"/>
              <a:t> Audit Log tracks actions performed by system users.</a:t>
            </a:r>
          </a:p>
          <a:p>
            <a:r>
              <a:rPr lang="en-US" dirty="0"/>
              <a:t>Holyday stores restricted dates used un trigger logic</a:t>
            </a:r>
          </a:p>
          <a:p>
            <a:r>
              <a:rPr lang="en-US" dirty="0"/>
              <a:t>One Importer transaction has many Payment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8C05C-21AD-4D17-8AD1-D840E1EE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6309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344</TotalTime>
  <Words>324</Words>
  <Application>Microsoft Office PowerPoint</Application>
  <PresentationFormat>Widescreen</PresentationFormat>
  <Paragraphs>88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等线</vt:lpstr>
      <vt:lpstr>Abadi</vt:lpstr>
      <vt:lpstr>Arial</vt:lpstr>
      <vt:lpstr>Calibri</vt:lpstr>
      <vt:lpstr>Helvetica</vt:lpstr>
      <vt:lpstr>Posterama</vt:lpstr>
      <vt:lpstr>Posterama Text SemiBold</vt:lpstr>
      <vt:lpstr>Custom</vt:lpstr>
      <vt:lpstr>Import  Product Tax System </vt:lpstr>
      <vt:lpstr>PowerPoint Presentation</vt:lpstr>
      <vt:lpstr>IMPORT PRODUCT TAX MANAGEMENT SYSTEM:  Help us to manage and track taxes on imported products, ensuring compliance, transparency, and accurate reporting. </vt:lpstr>
      <vt:lpstr>PowerPoint Presentation</vt:lpstr>
      <vt:lpstr>Entities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 Product Tax System</dc:title>
  <dc:creator>niyigaba jean remy</dc:creator>
  <cp:lastModifiedBy>ISHIMWE</cp:lastModifiedBy>
  <cp:revision>22</cp:revision>
  <dcterms:created xsi:type="dcterms:W3CDTF">2025-03-25T11:08:03Z</dcterms:created>
  <dcterms:modified xsi:type="dcterms:W3CDTF">2025-12-08T14:11:33Z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